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82ce12b-0944-52b1-a49b-b09f20f420fb}">
          <p14:sldIdLst>
            <p14:sldId id="256"/>
          </p14:sldIdLst>
        </p14:section>
        <p14:section name="Situation" id="{1ba1c318-c2e2-d7f3-428f-a6b095555067}">
          <p14:sldIdLst>
            <p14:sldId id="257"/>
          </p14:sldIdLst>
        </p14:section>
        <p14:section name="Complication" id="{6a515cca-7ff9-d2a3-2fe7-0af45bbc538a}">
          <p14:sldIdLst>
            <p14:sldId id="258"/>
          </p14:sldIdLst>
        </p14:section>
        <p14:section name="Problematique" id="{395e02b9-1241-e5d4-de56-36a3ac79d940}">
          <p14:sldIdLst>
            <p14:sldId id="259"/>
          </p14:sldIdLst>
        </p14:section>
        <p14:section name="Solution" id="{ba6f7b79-5fe6-dfb3-dce5-63a7d5c1a0c7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Introduction : présenter l’équipe, nos entreprises (FDJ et PMU) et annoncer le plan : situation, complication, problématique, 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Situation : contexte FDJ/PMU, obligation de lutte anti-blanchiment. On se concentre sur les points de vente physiques, en particulier les bars-tabacs. Objectif : mieux détecter et mieux traiter.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suspicion peut mener à une fermeture administrative par arrêté préfectoral, puis à une contestation devant le juge. Conséquences : économiques (CA, clientèle, même si certains joueurs se reportent ailleurs), réputationnelles (confiance des joueurs et partenaires), organisationnelles (contrôles, audits, charge documentaire). Et la vraie difficulté : un indice isolé ne prouve rien, il faut croiser les indices et le contexte, traiter vite les vraies alertes sans crouler sous les fausses.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Notre problématique : comment utiliser l’IA pour aider les équipes conformité à mieux détecter et traiter les risques de blanchiment dans les points de vente, tout en réduisant les fausses alertes et le temps d’analyse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Notre réponse : un assistant IA intégré au traitement des alertes. Il répond à trois questions : quoi examiner en priorité, pourquoi c’est inhabituel, quelles vérifications faire. Il réunit les infos dans un dossier, explique l’alerte et propose les vérifications. L’équipe conformité garde la décision. Objectif : mieux cibler, mieux documenter, plus de temps pour les cas complexes. Merci, place aux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80467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FDJ · PMU · CONFORMITÉ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L’IA au service de la lutte anti-blanchiment dans les points de vente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DF2E5"/>
                </a:solidFill>
              </a:rPr>
              <a:t>Mieux détecter et traiter les risques dans les bars-tabacs</a:t>
            </a:r>
            <a:endParaRPr lang="en-US" sz="1800" dirty="0"/>
          </a:p>
        </p:txBody>
      </p:sp>
      <p:sp>
        <p:nvSpPr>
          <p:cNvPr id="5" name="Bouclier cercle"/>
          <p:cNvSpPr/>
          <p:nvPr/>
        </p:nvSpPr>
        <p:spPr>
          <a:xfrm>
            <a:off x="548640" y="38404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6" name="Bouclier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40005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3931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Projet d’alternance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1 · SITUATION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blanchiment, un enjeu majeur de conformité</a:t>
            </a:r>
            <a:endParaRPr lang="en-US" sz="2800" dirty="0"/>
          </a:p>
        </p:txBody>
      </p:sp>
      <p:sp>
        <p:nvSpPr>
          <p:cNvPr id="4" name="FDJ et PMU cercle"/>
          <p:cNvSpPr/>
          <p:nvPr/>
        </p:nvSpPr>
        <p:spPr>
          <a:xfrm>
            <a:off x="457200" y="1508760"/>
            <a:ext cx="685800" cy="685800"/>
          </a:xfrm>
          <a:prstGeom prst="ellipse">
            <a:avLst/>
          </a:prstGeom>
          <a:solidFill>
            <a:srgbClr val="DDF2E5"/>
          </a:solidFill>
          <a:ln/>
        </p:spPr>
      </p:sp>
      <p:pic>
        <p:nvPicPr>
          <p:cNvPr id="5" name="FDJ et PMU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" y="16802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4630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FDJ et PMU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</a:rPr>
              <a:t>La lutte contre le blanchiment d’argent est une obligation centrale pour les opérateurs de jeux.</a:t>
            </a:r>
            <a:endParaRPr lang="en-US" sz="1600" dirty="0"/>
          </a:p>
        </p:txBody>
      </p:sp>
      <p:sp>
        <p:nvSpPr>
          <p:cNvPr id="7" name="Les points de vente physiques cercle"/>
          <p:cNvSpPr/>
          <p:nvPr/>
        </p:nvSpPr>
        <p:spPr>
          <a:xfrm>
            <a:off x="457200" y="2560320"/>
            <a:ext cx="685800" cy="685800"/>
          </a:xfrm>
          <a:prstGeom prst="ellipse">
            <a:avLst/>
          </a:prstGeom>
          <a:solidFill>
            <a:srgbClr val="DDF2E5"/>
          </a:solidFill>
          <a:ln/>
        </p:spPr>
      </p:sp>
      <p:pic>
        <p:nvPicPr>
          <p:cNvPr id="8" name="Les points de vente physiques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73177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2514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Les points de vente physiques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</a:rPr>
              <a:t>Focus sur les bars-tabacs, au cœur des problématiques rencontrées en alternance.</a:t>
            </a:r>
            <a:endParaRPr lang="en-US" sz="1600" dirty="0"/>
          </a:p>
        </p:txBody>
      </p:sp>
      <p:sp>
        <p:nvSpPr>
          <p:cNvPr id="10" name="Notre objectif cercle"/>
          <p:cNvSpPr/>
          <p:nvPr/>
        </p:nvSpPr>
        <p:spPr>
          <a:xfrm>
            <a:off x="457200" y="3611880"/>
            <a:ext cx="685800" cy="685800"/>
          </a:xfrm>
          <a:prstGeom prst="ellipse">
            <a:avLst/>
          </a:prstGeom>
          <a:solidFill>
            <a:srgbClr val="DDF2E5"/>
          </a:solidFill>
          <a:ln/>
        </p:spPr>
      </p:sp>
      <p:pic>
        <p:nvPicPr>
          <p:cNvPr id="11" name="Notre objectif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3783330"/>
            <a:ext cx="342900" cy="3429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35661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Notre objectif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</a:rPr>
              <a:t>Améliorer la détection des situations suspectes et leur traitement par les équipes conformité.</a:t>
            </a:r>
            <a:endParaRPr lang="en-US" sz="1600" dirty="0"/>
          </a:p>
        </p:txBody>
      </p:sp>
      <p:sp>
        <p:nvSpPr>
          <p:cNvPr id="13" name="Encadre cible"/>
          <p:cNvSpPr/>
          <p:nvPr/>
        </p:nvSpPr>
        <p:spPr>
          <a:xfrm>
            <a:off x="5852160" y="1508760"/>
            <a:ext cx="2834640" cy="2926080"/>
          </a:xfrm>
          <a:prstGeom prst="roundRect">
            <a:avLst>
              <a:gd name="adj" fmla="val 3871"/>
            </a:avLst>
          </a:prstGeom>
          <a:solidFill>
            <a:srgbClr val="0A2D6E"/>
          </a:solidFill>
          <a:ln/>
        </p:spPr>
      </p:sp>
      <p:sp>
        <p:nvSpPr>
          <p:cNvPr id="14" name="Cible cercle"/>
          <p:cNvSpPr/>
          <p:nvPr/>
        </p:nvSpPr>
        <p:spPr>
          <a:xfrm>
            <a:off x="6126480" y="17830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15" name="Cible i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94310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126480" y="2560320"/>
            <a:ext cx="2377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A651"/>
                </a:solidFill>
              </a:rPr>
              <a:t>Point de départ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Des cas concrets vécus en entreprise, sur le terrain des points de vente.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2 · COMPLICATION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suspicions aux lourdes conséquences</a:t>
            </a:r>
            <a:endParaRPr lang="en-US" sz="2800" dirty="0"/>
          </a:p>
        </p:txBody>
      </p:sp>
      <p:sp>
        <p:nvSpPr>
          <p:cNvPr id="4" name="Suspicion cercle"/>
          <p:cNvSpPr/>
          <p:nvPr/>
        </p:nvSpPr>
        <p:spPr>
          <a:xfrm>
            <a:off x="457200" y="1298448"/>
            <a:ext cx="411480" cy="4114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5" name="Suspicion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070" y="1401318"/>
            <a:ext cx="205740" cy="2057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98448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Suspicion</a:t>
            </a:r>
            <a:endParaRPr lang="en-US" sz="1400" dirty="0"/>
          </a:p>
        </p:txBody>
      </p:sp>
      <p:pic>
        <p:nvPicPr>
          <p:cNvPr id="7" name="Flech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389888"/>
            <a:ext cx="182880" cy="228600"/>
          </a:xfrm>
          <a:prstGeom prst="rect">
            <a:avLst/>
          </a:prstGeom>
        </p:spPr>
      </p:pic>
      <p:sp>
        <p:nvSpPr>
          <p:cNvPr id="8" name="Arrêté préfectoral : fermeture cercle"/>
          <p:cNvSpPr/>
          <p:nvPr/>
        </p:nvSpPr>
        <p:spPr>
          <a:xfrm>
            <a:off x="2194560" y="1298448"/>
            <a:ext cx="411480" cy="411480"/>
          </a:xfrm>
          <a:prstGeom prst="ellipse">
            <a:avLst/>
          </a:prstGeom>
          <a:solidFill>
            <a:srgbClr val="E30613"/>
          </a:solidFill>
          <a:ln/>
        </p:spPr>
      </p:sp>
      <p:pic>
        <p:nvPicPr>
          <p:cNvPr id="9" name="Arrêté préfectoral : fermeture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7430" y="1401318"/>
            <a:ext cx="205740" cy="2057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697480" y="129844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Arrêté préfectoral : fermeture</a:t>
            </a:r>
            <a:endParaRPr lang="en-US" sz="1400" dirty="0"/>
          </a:p>
        </p:txBody>
      </p:sp>
      <p:pic>
        <p:nvPicPr>
          <p:cNvPr id="11" name="Flech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89888"/>
            <a:ext cx="182880" cy="228600"/>
          </a:xfrm>
          <a:prstGeom prst="rect">
            <a:avLst/>
          </a:prstGeom>
        </p:spPr>
      </p:pic>
      <p:sp>
        <p:nvSpPr>
          <p:cNvPr id="12" name="Contestation devant le juge cercle"/>
          <p:cNvSpPr/>
          <p:nvPr/>
        </p:nvSpPr>
        <p:spPr>
          <a:xfrm>
            <a:off x="5212080" y="1298448"/>
            <a:ext cx="411480" cy="411480"/>
          </a:xfrm>
          <a:prstGeom prst="ellipse">
            <a:avLst/>
          </a:prstGeom>
          <a:solidFill>
            <a:srgbClr val="E30613"/>
          </a:solidFill>
          <a:ln/>
        </p:spPr>
      </p:sp>
      <p:pic>
        <p:nvPicPr>
          <p:cNvPr id="13" name="Contestation devant le juge 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4950" y="1401318"/>
            <a:ext cx="205740" cy="2057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715000" y="1298448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13D"/>
                </a:solidFill>
              </a:rPr>
              <a:t>Contestation devant le juge</a:t>
            </a:r>
            <a:endParaRPr lang="en-US" sz="1400" dirty="0"/>
          </a:p>
        </p:txBody>
      </p:sp>
      <p:sp>
        <p:nvSpPr>
          <p:cNvPr id="15" name="Carte Économiques"/>
          <p:cNvSpPr/>
          <p:nvPr/>
        </p:nvSpPr>
        <p:spPr>
          <a:xfrm>
            <a:off x="457200" y="19202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/>
        </p:spPr>
      </p:sp>
      <p:sp>
        <p:nvSpPr>
          <p:cNvPr id="16" name="Économiques cercle"/>
          <p:cNvSpPr/>
          <p:nvPr/>
        </p:nvSpPr>
        <p:spPr>
          <a:xfrm>
            <a:off x="685800" y="2103120"/>
            <a:ext cx="502920" cy="502920"/>
          </a:xfrm>
          <a:prstGeom prst="ellipse">
            <a:avLst/>
          </a:prstGeom>
          <a:solidFill>
            <a:srgbClr val="0A2D6E"/>
          </a:solidFill>
          <a:ln/>
        </p:spPr>
      </p:sp>
      <p:pic>
        <p:nvPicPr>
          <p:cNvPr id="17" name="Économiques i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530" y="2228850"/>
            <a:ext cx="251460" cy="25146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1325880" y="21031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Économiques</a:t>
            </a:r>
            <a:endParaRPr lang="en-US" sz="1600" dirty="0"/>
          </a:p>
        </p:txBody>
      </p:sp>
      <p:sp>
        <p:nvSpPr>
          <p:cNvPr id="19" name="Text 11"/>
          <p:cNvSpPr txBox="1"/>
          <p:nvPr/>
        </p:nvSpPr>
        <p:spPr>
          <a:xfrm>
            <a:off x="685800" y="26974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</a:rPr>
              <a:t>Activité interrompue, perte de chiffre d’affaires et de clientèle.</a:t>
            </a:r>
            <a:endParaRPr lang="en-US" sz="1300" dirty="0"/>
          </a:p>
        </p:txBody>
      </p:sp>
      <p:sp>
        <p:nvSpPr>
          <p:cNvPr id="20" name="Carte Réputationnelles"/>
          <p:cNvSpPr/>
          <p:nvPr/>
        </p:nvSpPr>
        <p:spPr>
          <a:xfrm>
            <a:off x="3291840" y="19202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/>
        </p:spPr>
      </p:sp>
      <p:sp>
        <p:nvSpPr>
          <p:cNvPr id="21" name="Réputationnelles cercle"/>
          <p:cNvSpPr/>
          <p:nvPr/>
        </p:nvSpPr>
        <p:spPr>
          <a:xfrm>
            <a:off x="3520440" y="2103120"/>
            <a:ext cx="502920" cy="502920"/>
          </a:xfrm>
          <a:prstGeom prst="ellipse">
            <a:avLst/>
          </a:prstGeom>
          <a:solidFill>
            <a:srgbClr val="0A2D6E"/>
          </a:solidFill>
          <a:ln/>
        </p:spPr>
      </p:sp>
      <p:pic>
        <p:nvPicPr>
          <p:cNvPr id="22" name="Réputationnelles i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46170" y="2228850"/>
            <a:ext cx="251460" cy="2514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4160520" y="21031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Réputationnelles</a:t>
            </a:r>
            <a:endParaRPr lang="en-US" sz="1600" dirty="0"/>
          </a:p>
        </p:txBody>
      </p:sp>
      <p:sp>
        <p:nvSpPr>
          <p:cNvPr id="24" name="Text 15"/>
          <p:cNvSpPr txBox="1"/>
          <p:nvPr/>
        </p:nvSpPr>
        <p:spPr>
          <a:xfrm>
            <a:off x="3520440" y="26974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</a:rPr>
              <a:t>Confiance des joueurs et des partenaires fragilisée.</a:t>
            </a:r>
            <a:endParaRPr lang="en-US" sz="1300" dirty="0"/>
          </a:p>
        </p:txBody>
      </p:sp>
      <p:sp>
        <p:nvSpPr>
          <p:cNvPr id="25" name="Carte Organisationnelles"/>
          <p:cNvSpPr/>
          <p:nvPr/>
        </p:nvSpPr>
        <p:spPr>
          <a:xfrm>
            <a:off x="6126480" y="19202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/>
        </p:spPr>
      </p:sp>
      <p:sp>
        <p:nvSpPr>
          <p:cNvPr id="26" name="Organisationnelles cercle"/>
          <p:cNvSpPr/>
          <p:nvPr/>
        </p:nvSpPr>
        <p:spPr>
          <a:xfrm>
            <a:off x="6355080" y="2103120"/>
            <a:ext cx="502920" cy="502920"/>
          </a:xfrm>
          <a:prstGeom prst="ellipse">
            <a:avLst/>
          </a:prstGeom>
          <a:solidFill>
            <a:srgbClr val="0A2D6E"/>
          </a:solidFill>
          <a:ln/>
        </p:spPr>
      </p:sp>
      <p:pic>
        <p:nvPicPr>
          <p:cNvPr id="27" name="Organisationnelles i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0810" y="2228850"/>
            <a:ext cx="251460" cy="2514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6995160" y="21031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Organisationnelles</a:t>
            </a:r>
            <a:endParaRPr lang="en-US" sz="1600" dirty="0"/>
          </a:p>
        </p:txBody>
      </p:sp>
      <p:sp>
        <p:nvSpPr>
          <p:cNvPr id="29" name="Text 19"/>
          <p:cNvSpPr txBox="1"/>
          <p:nvPr/>
        </p:nvSpPr>
        <p:spPr>
          <a:xfrm>
            <a:off x="6355080" y="26974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</a:rPr>
              <a:t>Contrôles, audits, justifications : équipes mobilisées.</a:t>
            </a:r>
            <a:endParaRPr lang="en-US" sz="1300" dirty="0"/>
          </a:p>
        </p:txBody>
      </p:sp>
      <p:sp>
        <p:nvSpPr>
          <p:cNvPr id="30" name="Difficulte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10526"/>
            </a:avLst>
          </a:prstGeom>
          <a:solidFill>
            <a:srgbClr val="0A2D6E"/>
          </a:solidFill>
          <a:ln/>
        </p:spPr>
      </p:sp>
      <p:sp>
        <p:nvSpPr>
          <p:cNvPr id="31" name="Text 21"/>
          <p:cNvSpPr txBox="1"/>
          <p:nvPr/>
        </p:nvSpPr>
        <p:spPr>
          <a:xfrm>
            <a:off x="731520" y="37033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A651"/>
                </a:solidFill>
              </a:rPr>
              <a:t>La difficulté 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un montant élevé ou un gain exceptionnel ne suffit pas. Il faut croiser plusieurs indices, comprendre le contexte et vérifier —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vite, sans multiplier les fausses alertes.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822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3 · PROBLÉMATIQUE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23444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Comment utiliser l’IA pour aider les équipes conformité à mieux détecter et traiter les risques de blanchiment ?</a:t>
            </a:r>
            <a:endParaRPr lang="en-US" sz="3600" dirty="0"/>
          </a:p>
        </p:txBody>
      </p:sp>
      <p:sp>
        <p:nvSpPr>
          <p:cNvPr id="4" name="Objectif 1 cercle"/>
          <p:cNvSpPr/>
          <p:nvPr/>
        </p:nvSpPr>
        <p:spPr>
          <a:xfrm>
            <a:off x="548640" y="33832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5" name="Objectif 1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35433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Points de vente de jeux,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notamment bars-tabacs</a:t>
            </a:r>
            <a:endParaRPr lang="en-US" sz="1400" dirty="0"/>
          </a:p>
        </p:txBody>
      </p:sp>
      <p:sp>
        <p:nvSpPr>
          <p:cNvPr id="7" name="Objectif 2 cercle"/>
          <p:cNvSpPr/>
          <p:nvPr/>
        </p:nvSpPr>
        <p:spPr>
          <a:xfrm>
            <a:off x="3291840" y="33832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8" name="Objectif 2 i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35433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06908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Moins 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fausses alertes</a:t>
            </a:r>
            <a:endParaRPr lang="en-US" sz="1400" dirty="0"/>
          </a:p>
        </p:txBody>
      </p:sp>
      <p:sp>
        <p:nvSpPr>
          <p:cNvPr id="10" name="Objectif 3 cercle"/>
          <p:cNvSpPr/>
          <p:nvPr/>
        </p:nvSpPr>
        <p:spPr>
          <a:xfrm>
            <a:off x="6035040" y="3383280"/>
            <a:ext cx="640080" cy="64008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11" name="Objectif 3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5060" y="354330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12280" y="33375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Moins de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EF3F9"/>
                </a:solidFill>
              </a:rPr>
              <a:t>temps d’analyse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4 · NOTRE RÉPONSE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assistant IA intégré au traitement des alertes</a:t>
            </a:r>
            <a:endParaRPr lang="en-US" sz="2800" dirty="0"/>
          </a:p>
        </p:txBody>
      </p:sp>
      <p:sp>
        <p:nvSpPr>
          <p:cNvPr id="4" name="Question 1"/>
          <p:cNvSpPr/>
          <p:nvPr/>
        </p:nvSpPr>
        <p:spPr>
          <a:xfrm>
            <a:off x="457200" y="1325880"/>
            <a:ext cx="2560320" cy="82296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6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3258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</a:rPr>
              <a:t>Quoi examiner en priorité ?</a:t>
            </a:r>
            <a:endParaRPr lang="en-US" sz="1500" dirty="0"/>
          </a:p>
        </p:txBody>
      </p:sp>
      <p:sp>
        <p:nvSpPr>
          <p:cNvPr id="7" name="Question 2"/>
          <p:cNvSpPr/>
          <p:nvPr/>
        </p:nvSpPr>
        <p:spPr>
          <a:xfrm>
            <a:off x="3291840" y="1325880"/>
            <a:ext cx="2560320" cy="82296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74720" y="13258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6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13258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</a:rPr>
              <a:t>Pourquoi est-ce inhabituel ?</a:t>
            </a:r>
            <a:endParaRPr lang="en-US" sz="1500" dirty="0"/>
          </a:p>
        </p:txBody>
      </p:sp>
      <p:sp>
        <p:nvSpPr>
          <p:cNvPr id="10" name="Question 3"/>
          <p:cNvSpPr/>
          <p:nvPr/>
        </p:nvSpPr>
        <p:spPr>
          <a:xfrm>
            <a:off x="6126480" y="1325880"/>
            <a:ext cx="2560320" cy="822960"/>
          </a:xfrm>
          <a:prstGeom prst="roundRect">
            <a:avLst>
              <a:gd name="adj" fmla="val 11111"/>
            </a:avLst>
          </a:prstGeom>
          <a:solidFill>
            <a:srgbClr val="EEF3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09360" y="132588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A65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132588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</a:rPr>
              <a:t>Quelles vérifications faire ?</a:t>
            </a:r>
            <a:endParaRPr lang="en-US" sz="1500" dirty="0"/>
          </a:p>
        </p:txBody>
      </p:sp>
      <p:sp>
        <p:nvSpPr>
          <p:cNvPr id="13" name="Données + terrain"/>
          <p:cNvSpPr/>
          <p:nvPr/>
        </p:nvSpPr>
        <p:spPr>
          <a:xfrm>
            <a:off x="457200" y="23774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EEF3F9"/>
          </a:solidFill>
          <a:ln/>
          <a:effectLst>
            <a:outerShdw sx="100000" sy="100000" kx="0" ky="0" algn="bl" rotWithShape="0" blurRad="76200" dist="25400" dir="5400000">
              <a:srgbClr val="1C2B36">
                <a:alpha val="12000"/>
              </a:srgbClr>
            </a:outerShdw>
          </a:effectLst>
        </p:spPr>
      </p:sp>
      <p:sp>
        <p:nvSpPr>
          <p:cNvPr id="14" name="Données + terrain cercle"/>
          <p:cNvSpPr/>
          <p:nvPr/>
        </p:nvSpPr>
        <p:spPr>
          <a:xfrm>
            <a:off x="685800" y="2560320"/>
            <a:ext cx="502920" cy="502920"/>
          </a:xfrm>
          <a:prstGeom prst="ellipse">
            <a:avLst/>
          </a:prstGeom>
          <a:solidFill>
            <a:srgbClr val="5B6B7C"/>
          </a:solidFill>
          <a:ln/>
        </p:spPr>
      </p:sp>
      <p:pic>
        <p:nvPicPr>
          <p:cNvPr id="15" name="Données + terrain i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268605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325880" y="2560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Données + terrain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31546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</a:rPr>
              <a:t>Données disponibles et remontées des points de vente</a:t>
            </a:r>
            <a:endParaRPr lang="en-US" sz="1300" dirty="0"/>
          </a:p>
        </p:txBody>
      </p:sp>
      <p:pic>
        <p:nvPicPr>
          <p:cNvPr id="18" name="Fleche flux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063240"/>
            <a:ext cx="182880" cy="228600"/>
          </a:xfrm>
          <a:prstGeom prst="rect">
            <a:avLst/>
          </a:prstGeom>
        </p:spPr>
      </p:pic>
      <p:sp>
        <p:nvSpPr>
          <p:cNvPr id="19" name="Assistant IA"/>
          <p:cNvSpPr/>
          <p:nvPr/>
        </p:nvSpPr>
        <p:spPr>
          <a:xfrm>
            <a:off x="3291840" y="23774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0A2D6E"/>
          </a:solidFill>
          <a:ln/>
          <a:effectLst>
            <a:outerShdw sx="100000" sy="100000" kx="0" ky="0" algn="bl" rotWithShape="0" blurRad="76200" dist="25400" dir="5400000">
              <a:srgbClr val="1C2B36">
                <a:alpha val="12000"/>
              </a:srgbClr>
            </a:outerShdw>
          </a:effectLst>
        </p:spPr>
      </p:sp>
      <p:sp>
        <p:nvSpPr>
          <p:cNvPr id="20" name="Assistant IA cercle"/>
          <p:cNvSpPr/>
          <p:nvPr/>
        </p:nvSpPr>
        <p:spPr>
          <a:xfrm>
            <a:off x="3520440" y="2560320"/>
            <a:ext cx="502920" cy="502920"/>
          </a:xfrm>
          <a:prstGeom prst="ellipse">
            <a:avLst/>
          </a:prstGeom>
          <a:solidFill>
            <a:srgbClr val="00A651"/>
          </a:solidFill>
          <a:ln/>
        </p:spPr>
      </p:sp>
      <p:pic>
        <p:nvPicPr>
          <p:cNvPr id="21" name="Assistant IA i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170" y="2686050"/>
            <a:ext cx="251460" cy="2514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4160520" y="2560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Assistant IA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3520440" y="31546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EF3F9"/>
                </a:solidFill>
              </a:rPr>
              <a:t>Constitue le dossier, explique l’alerte, propose les vérifications</a:t>
            </a:r>
            <a:endParaRPr lang="en-US" sz="1300" dirty="0"/>
          </a:p>
        </p:txBody>
      </p:sp>
      <p:pic>
        <p:nvPicPr>
          <p:cNvPr id="24" name="Fleche flux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3063240"/>
            <a:ext cx="182880" cy="228600"/>
          </a:xfrm>
          <a:prstGeom prst="rect">
            <a:avLst/>
          </a:prstGeom>
        </p:spPr>
      </p:pic>
      <p:sp>
        <p:nvSpPr>
          <p:cNvPr id="25" name="Équipe conformité"/>
          <p:cNvSpPr/>
          <p:nvPr/>
        </p:nvSpPr>
        <p:spPr>
          <a:xfrm>
            <a:off x="6126480" y="2377440"/>
            <a:ext cx="2560320" cy="1600200"/>
          </a:xfrm>
          <a:prstGeom prst="roundRect">
            <a:avLst>
              <a:gd name="adj" fmla="val 5714"/>
            </a:avLst>
          </a:prstGeom>
          <a:solidFill>
            <a:srgbClr val="DDF2E5"/>
          </a:solidFill>
          <a:ln/>
          <a:effectLst>
            <a:outerShdw sx="100000" sy="100000" kx="0" ky="0" algn="bl" rotWithShape="0" blurRad="76200" dist="25400" dir="5400000">
              <a:srgbClr val="1C2B36">
                <a:alpha val="12000"/>
              </a:srgbClr>
            </a:outerShdw>
          </a:effectLst>
        </p:spPr>
      </p:sp>
      <p:sp>
        <p:nvSpPr>
          <p:cNvPr id="26" name="Équipe conformité cercle"/>
          <p:cNvSpPr/>
          <p:nvPr/>
        </p:nvSpPr>
        <p:spPr>
          <a:xfrm>
            <a:off x="6355080" y="2560320"/>
            <a:ext cx="502920" cy="502920"/>
          </a:xfrm>
          <a:prstGeom prst="ellipse">
            <a:avLst/>
          </a:prstGeom>
          <a:solidFill>
            <a:srgbClr val="0057B8"/>
          </a:solidFill>
          <a:ln/>
        </p:spPr>
      </p:sp>
      <p:pic>
        <p:nvPicPr>
          <p:cNvPr id="27" name="Équipe conformité i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0810" y="2686050"/>
            <a:ext cx="251460" cy="25146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995160" y="25603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</a:rPr>
              <a:t>Équipe conformité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355080" y="315468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213D"/>
                </a:solidFill>
              </a:rPr>
              <a:t>Garde la décision sur les suites à donner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45720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7B8"/>
                </a:solidFill>
              </a:rPr>
              <a:t>Objectif : </a:t>
            </a:r>
            <a:pPr indent="0" marL="0">
              <a:buNone/>
            </a:pPr>
            <a:r>
              <a:rPr lang="en-US" sz="1400" dirty="0">
                <a:solidFill>
                  <a:srgbClr val="14213D"/>
                </a:solidFill>
              </a:rPr>
              <a:t>mieux cibler les investigations, mieux les documenter et garder du temps pour les cas complexes.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DJ PMU Conformite">
  <a:themeElements>
    <a:clrScheme name="FDJ PMU Conformite">
      <a:dk1>
        <a:srgbClr val="14213D"/>
      </a:dk1>
      <a:lt1>
        <a:srgbClr val="FFFFFF"/>
      </a:lt1>
      <a:dk2>
        <a:srgbClr val="0A2D6E"/>
      </a:dk2>
      <a:lt2>
        <a:srgbClr val="EEF3F9"/>
      </a:lt2>
      <a:accent1>
        <a:srgbClr val="00A651"/>
      </a:accent1>
      <a:accent2>
        <a:srgbClr val="0057B8"/>
      </a:accent2>
      <a:accent3>
        <a:srgbClr val="E30613"/>
      </a:accent3>
      <a:accent4>
        <a:srgbClr val="5B6B7C"/>
      </a:accent4>
      <a:accent5>
        <a:srgbClr val="DCE8F7"/>
      </a:accent5>
      <a:accent6>
        <a:srgbClr val="DDF2E5"/>
      </a:accent6>
      <a:hlink>
        <a:srgbClr val="0057B8"/>
      </a:hlink>
      <a:folHlink>
        <a:srgbClr val="5B6B7C"/>
      </a:folHlink>
    </a:clrScheme>
    <a:fontScheme name="FDJ PMU Conformi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 et lutte anti-blanchiment en point de vente</dc:title>
  <dc:subject>PptxGenJS Presentation</dc:subject>
  <dc:creator>PptxGenJS</dc:creator>
  <cp:lastModifiedBy>PptxGenJS</cp:lastModifiedBy>
  <cp:revision>1</cp:revision>
  <dcterms:created xsi:type="dcterms:W3CDTF">2026-10-22T15:31:27Z</dcterms:created>
  <dcterms:modified xsi:type="dcterms:W3CDTF">2026-10-22T15:31:27Z</dcterms:modified>
</cp:coreProperties>
</file>